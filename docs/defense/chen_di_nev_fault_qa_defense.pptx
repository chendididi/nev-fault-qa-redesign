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Retrieval Ablation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Hit@1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Dense+Keyword</c:v>
                </c:pt>
                <c:pt idx="1">
                  <c:v>Dense</c:v>
                </c:pt>
                <c:pt idx="2">
                  <c:v>Hybrid+Rerank</c:v>
                </c:pt>
                <c:pt idx="3">
                  <c:v>No RAG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0.96875</c:v>
                </c:pt>
                <c:pt idx="1">
                  <c:v>0.96875</c:v>
                </c:pt>
                <c:pt idx="2">
                  <c:v>1.0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MRR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Dense+Keyword</c:v>
                </c:pt>
                <c:pt idx="1">
                  <c:v>Dense</c:v>
                </c:pt>
                <c:pt idx="2">
                  <c:v>Hybrid+Rerank</c:v>
                </c:pt>
                <c:pt idx="3">
                  <c:v>No RAG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0.984375</c:v>
                </c:pt>
                <c:pt idx="1">
                  <c:v>0.984375</c:v>
                </c:pt>
                <c:pt idx="2">
                  <c:v>1.0</c:v>
                </c:pt>
                <c:pt idx="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nDCG@5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Dense+Keyword</c:v>
                </c:pt>
                <c:pt idx="1">
                  <c:v>Dense</c:v>
                </c:pt>
                <c:pt idx="2">
                  <c:v>Hybrid+Rerank</c:v>
                </c:pt>
                <c:pt idx="3">
                  <c:v>No RAG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0.9878264427197307</c:v>
                </c:pt>
                <c:pt idx="1">
                  <c:v>0.9878264427197307</c:v>
                </c:pt>
                <c:pt idx="2">
                  <c:v>0.9979429994301278</c:v>
                </c:pt>
                <c:pt idx="3">
                  <c:v>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5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96000" y="396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CF2A2A"/>
                </a:solidFill>
                <a:latin typeface="Microsoft YaHei"/>
              </a:rPr>
              <a:t>毕业论文答辩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810000"/>
            <a:ext cx="6048000" cy="14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181F2A"/>
                </a:solidFill>
                <a:latin typeface="Microsoft YaHei"/>
              </a:rPr>
              <a:t>面向新能源汽车故障诊断的</a:t>
            </a:r>
            <a:r>
              <a:rPr sz="3800" b="1">
                <a:solidFill>
                  <a:srgbClr val="CF2A2A"/>
                </a:solidFill>
                <a:latin typeface="Microsoft YaHei"/>
              </a:rPr>
              <a:t>
多模态检索增强问答系统</a:t>
            </a:r>
            <a:r>
              <a:rPr sz="3800" b="1">
                <a:solidFill>
                  <a:srgbClr val="181F2A"/>
                </a:solidFill>
                <a:latin typeface="Microsoft YaHei"/>
              </a:rPr>
              <a:t>
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3999" y="2394000"/>
            <a:ext cx="432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586374"/>
                </a:solidFill>
                <a:latin typeface="Microsoft YaHei"/>
              </a:rPr>
              <a:t>学生：陈迪   |   答辩时长：7 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3999" y="2707200"/>
            <a:ext cx="5580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81F2A"/>
                </a:solidFill>
                <a:latin typeface="Microsoft YaHei"/>
              </a:rPr>
              <a:t>核心主张：让维修问答从“能回答”走向“可追溯、可部署、可演示”。</a:t>
            </a:r>
          </a:p>
        </p:txBody>
      </p:sp>
      <p:sp>
        <p:nvSpPr>
          <p:cNvPr id="7" name="Oval 6"/>
          <p:cNvSpPr/>
          <p:nvPr/>
        </p:nvSpPr>
        <p:spPr>
          <a:xfrm>
            <a:off x="7200000" y="720000"/>
            <a:ext cx="360000" cy="360000"/>
          </a:xfrm>
          <a:prstGeom prst="ellipse">
            <a:avLst/>
          </a:prstGeom>
          <a:solidFill>
            <a:srgbClr val="00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46000" y="1137600"/>
            <a:ext cx="468000" cy="12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86374"/>
                </a:solidFill>
                <a:latin typeface="Microsoft YaHei"/>
              </a:rPr>
              <a:t>PDF</a:t>
            </a:r>
          </a:p>
        </p:txBody>
      </p:sp>
      <p:sp>
        <p:nvSpPr>
          <p:cNvPr id="9" name="Oval 8"/>
          <p:cNvSpPr/>
          <p:nvPr/>
        </p:nvSpPr>
        <p:spPr>
          <a:xfrm>
            <a:off x="9180000" y="936000"/>
            <a:ext cx="360000" cy="360000"/>
          </a:xfrm>
          <a:prstGeom prst="ellipse">
            <a:avLst/>
          </a:prstGeom>
          <a:solidFill>
            <a:srgbClr val="E896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26000" y="1353600"/>
            <a:ext cx="468000" cy="12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86374"/>
                </a:solidFill>
                <a:latin typeface="Microsoft YaHei"/>
              </a:rPr>
              <a:t>RAG</a:t>
            </a:r>
          </a:p>
        </p:txBody>
      </p:sp>
      <p:sp>
        <p:nvSpPr>
          <p:cNvPr id="11" name="Oval 10"/>
          <p:cNvSpPr/>
          <p:nvPr/>
        </p:nvSpPr>
        <p:spPr>
          <a:xfrm>
            <a:off x="8280000" y="2088000"/>
            <a:ext cx="360000" cy="360000"/>
          </a:xfrm>
          <a:prstGeom prst="ellipse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6000" y="2505600"/>
            <a:ext cx="468000" cy="12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86374"/>
                </a:solidFill>
                <a:latin typeface="Microsoft YaHei"/>
              </a:rPr>
              <a:t>vLLM</a:t>
            </a:r>
          </a:p>
        </p:txBody>
      </p:sp>
      <p:sp>
        <p:nvSpPr>
          <p:cNvPr id="13" name="Oval 12"/>
          <p:cNvSpPr/>
          <p:nvPr/>
        </p:nvSpPr>
        <p:spPr>
          <a:xfrm>
            <a:off x="10152000" y="1800000"/>
            <a:ext cx="360000" cy="360000"/>
          </a:xfrm>
          <a:prstGeom prst="ellipse">
            <a:avLst/>
          </a:prstGeom>
          <a:solidFill>
            <a:srgbClr val="366E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98000" y="2217600"/>
            <a:ext cx="468000" cy="12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86374"/>
                </a:solidFill>
                <a:latin typeface="Microsoft YaHei"/>
              </a:rPr>
              <a:t>BGE</a:t>
            </a:r>
          </a:p>
        </p:txBody>
      </p:sp>
      <p:sp>
        <p:nvSpPr>
          <p:cNvPr id="15" name="Oval 14"/>
          <p:cNvSpPr/>
          <p:nvPr/>
        </p:nvSpPr>
        <p:spPr>
          <a:xfrm>
            <a:off x="7703999" y="2628000"/>
            <a:ext cx="360000" cy="360000"/>
          </a:xfrm>
          <a:prstGeom prst="ellipse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0000" y="3045599"/>
            <a:ext cx="468000" cy="125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586374"/>
                </a:solidFill>
                <a:latin typeface="Microsoft YaHei"/>
              </a:rPr>
              <a:t>SSE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560000" y="900000"/>
            <a:ext cx="1620000" cy="216000"/>
          </a:xfrm>
          <a:prstGeom prst="line">
            <a:avLst/>
          </a:prstGeom>
          <a:ln w="1778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540000" y="1116000"/>
            <a:ext cx="612000" cy="846000"/>
          </a:xfrm>
          <a:prstGeom prst="line">
            <a:avLst/>
          </a:prstGeom>
          <a:ln w="1778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8460000" y="1962000"/>
            <a:ext cx="1692000" cy="306000"/>
          </a:xfrm>
          <a:prstGeom prst="line">
            <a:avLst/>
          </a:prstGeom>
          <a:ln w="1778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7883999" y="2268000"/>
            <a:ext cx="576001" cy="522000"/>
          </a:xfrm>
          <a:prstGeom prst="line">
            <a:avLst/>
          </a:prstGeom>
          <a:ln w="17780">
            <a:solidFill>
              <a:srgbClr val="DCE2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9200"/>
            <a:ext cx="57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2A2A"/>
                </a:solidFill>
                <a:latin typeface="Microsoft YaHe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251999"/>
            <a:ext cx="1980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86374"/>
                </a:solidFill>
                <a:latin typeface="Microsoft YaHei"/>
              </a:rPr>
              <a:t>背景与意义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86000"/>
            <a:ext cx="88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Microsoft YaHei"/>
              </a:rPr>
              <a:t>维修诊断不是缺少资料，而是缺少可用的证据链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79200"/>
            <a:ext cx="756000" cy="288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170000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81F2A"/>
                </a:solidFill>
                <a:latin typeface="Microsoft YaHei"/>
              </a:rPr>
              <a:t>新能源汽车故障诊断面临三类实际困难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6000" y="1530000"/>
            <a:ext cx="360000" cy="288000"/>
          </a:xfrm>
          <a:prstGeom prst="roundRect">
            <a:avLst/>
          </a:prstGeom>
          <a:solidFill>
            <a:srgbClr val="007E8B"/>
          </a:solidFill>
          <a:ln>
            <a:solidFill>
              <a:srgbClr val="00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000" y="1548000"/>
            <a:ext cx="6300000" cy="30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81F2A"/>
                </a:solidFill>
                <a:latin typeface="Microsoft YaHei"/>
              </a:rPr>
              <a:t>资料碎片化</a:t>
            </a:r>
            <a:r>
              <a:rPr sz="1800" b="0">
                <a:solidFill>
                  <a:srgbClr val="586374"/>
                </a:solidFill>
                <a:latin typeface="Microsoft YaHei"/>
              </a:rPr>
              <a:t>  PDF 手册、故障码、数据流、维修案例分散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6000" y="2124000"/>
            <a:ext cx="360000" cy="288000"/>
          </a:xfrm>
          <a:prstGeom prst="roundRect">
            <a:avLst/>
          </a:prstGeom>
          <a:solidFill>
            <a:srgbClr val="E89637"/>
          </a:solidFill>
          <a:ln>
            <a:solidFill>
              <a:srgbClr val="E8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2000" y="2142000"/>
            <a:ext cx="6300000" cy="30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81F2A"/>
                </a:solidFill>
                <a:latin typeface="Microsoft YaHei"/>
              </a:rPr>
              <a:t>表达不一致</a:t>
            </a:r>
            <a:r>
              <a:rPr sz="1800" b="0">
                <a:solidFill>
                  <a:srgbClr val="586374"/>
                </a:solidFill>
                <a:latin typeface="Microsoft YaHei"/>
              </a:rPr>
              <a:t>  技师描述、DTC、仪表报警图像难以直接匹配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6000" y="2718000"/>
            <a:ext cx="360000" cy="288000"/>
          </a:xfrm>
          <a:prstGeom prst="roundRect">
            <a:avLst/>
          </a:prstGeom>
          <a:solidFill>
            <a:srgbClr val="CF2A2A"/>
          </a:solidFill>
          <a:ln>
            <a:solidFill>
              <a:srgbClr val="C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000" y="2736000"/>
            <a:ext cx="6300000" cy="30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181F2A"/>
                </a:solidFill>
                <a:latin typeface="Microsoft YaHei"/>
              </a:rPr>
              <a:t>大模型风险</a:t>
            </a:r>
            <a:r>
              <a:rPr sz="1800" b="0">
                <a:solidFill>
                  <a:srgbClr val="586374"/>
                </a:solidFill>
                <a:latin typeface="Microsoft YaHei"/>
              </a:rPr>
              <a:t>  纯 LLM 容易给出无来源、不可复核的建议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68000" y="1440000"/>
            <a:ext cx="43200" cy="827999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68800" y="1440000"/>
            <a:ext cx="3499200" cy="827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CF2A2A"/>
                </a:solidFill>
                <a:latin typeface="Microsoft YaHei"/>
              </a:rPr>
              <a:t>本文问题：</a:t>
            </a:r>
            <a:r>
              <a:rPr sz="2100" b="0">
                <a:solidFill>
                  <a:srgbClr val="181F2A"/>
                </a:solidFill>
                <a:latin typeface="Microsoft YaHei"/>
              </a:rPr>
              <a:t>如何让问答系统同时具备 </a:t>
            </a:r>
            <a:r>
              <a:rPr sz="2100" b="1">
                <a:solidFill>
                  <a:srgbClr val="CF2A2A"/>
                </a:solidFill>
                <a:latin typeface="Microsoft YaHei"/>
              </a:rPr>
              <a:t>准确检索、引用溯源、本地部署、多模态理解</a:t>
            </a:r>
            <a:r>
              <a:rPr sz="2100" b="0">
                <a:solidFill>
                  <a:srgbClr val="181F2A"/>
                </a:solidFill>
                <a:latin typeface="Microsoft YaHei"/>
              </a:rPr>
              <a:t>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20000" y="2628000"/>
            <a:ext cx="1152000" cy="288000"/>
          </a:xfrm>
          <a:prstGeom prst="roundRect">
            <a:avLst/>
          </a:prstGeom>
          <a:solidFill>
            <a:srgbClr val="181F2A"/>
          </a:solidFill>
          <a:ln>
            <a:solidFill>
              <a:srgbClr val="18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问题导向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88000" y="2628000"/>
            <a:ext cx="1152000" cy="288000"/>
          </a:xfrm>
          <a:prstGeom prst="roundRect">
            <a:avLst/>
          </a:prstGeom>
          <a:solidFill>
            <a:srgbClr val="007E8B"/>
          </a:solidFill>
          <a:ln>
            <a:solidFill>
              <a:srgbClr val="00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工程落地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CF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9200"/>
            <a:ext cx="57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2A2A"/>
                </a:solidFill>
                <a:latin typeface="Microsoft YaHe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251999"/>
            <a:ext cx="1980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86374"/>
                </a:solidFill>
                <a:latin typeface="Microsoft YaHei"/>
              </a:rPr>
              <a:t>研究内容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86000"/>
            <a:ext cx="88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Microsoft YaHei"/>
              </a:rPr>
              <a:t>围绕“可信诊断问答”完成四项核心工作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79200"/>
            <a:ext cx="756000" cy="288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6000" y="1260000"/>
            <a:ext cx="720000" cy="270000"/>
          </a:xfrm>
          <a:prstGeom prst="roundRect">
            <a:avLst/>
          </a:prstGeom>
          <a:solidFill>
            <a:srgbClr val="007E8B"/>
          </a:solidFill>
          <a:ln>
            <a:solidFill>
              <a:srgbClr val="00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6000" y="1638000"/>
            <a:ext cx="30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81F2A"/>
                </a:solidFill>
                <a:latin typeface="Microsoft YaHei"/>
              </a:rPr>
              <a:t>多模态 RAG 框架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1900800"/>
            <a:ext cx="45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86374"/>
                </a:solidFill>
                <a:latin typeface="Microsoft YaHei"/>
              </a:rPr>
              <a:t>文本问题、故障码、仪表图片、PDF 证据统一进入诊断链路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76000" y="1260000"/>
            <a:ext cx="720000" cy="270000"/>
          </a:xfrm>
          <a:prstGeom prst="roundRect">
            <a:avLst/>
          </a:prstGeom>
          <a:solidFill>
            <a:srgbClr val="366EB6"/>
          </a:solidFill>
          <a:ln>
            <a:solidFill>
              <a:srgbClr val="36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6000" y="1638000"/>
            <a:ext cx="30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81F2A"/>
                </a:solidFill>
                <a:latin typeface="Microsoft YaHei"/>
              </a:rPr>
              <a:t>混合检索与重排序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6000" y="1900800"/>
            <a:ext cx="45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86374"/>
                </a:solidFill>
                <a:latin typeface="Microsoft YaHei"/>
              </a:rPr>
              <a:t>向量召回 + 关键词召回 + BGE reranker，提高证据命中和引用质量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6000" y="2412000"/>
            <a:ext cx="720000" cy="270000"/>
          </a:xfrm>
          <a:prstGeom prst="roundRect">
            <a:avLst/>
          </a:prstGeom>
          <a:solidFill>
            <a:srgbClr val="E89637"/>
          </a:solidFill>
          <a:ln>
            <a:solidFill>
              <a:srgbClr val="E8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000" y="2790000"/>
            <a:ext cx="30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81F2A"/>
                </a:solidFill>
                <a:latin typeface="Microsoft YaHei"/>
              </a:rPr>
              <a:t>多模型路由机制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000" y="3052800"/>
            <a:ext cx="45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86374"/>
                </a:solidFill>
                <a:latin typeface="Microsoft YaHei"/>
              </a:rPr>
              <a:t>chat / vision_ocr / embedding / rerank / fallback 按任务独立配置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76000" y="2412000"/>
            <a:ext cx="720000" cy="270000"/>
          </a:xfrm>
          <a:prstGeom prst="roundRect">
            <a:avLst/>
          </a:prstGeom>
          <a:solidFill>
            <a:srgbClr val="CF2A2A"/>
          </a:solidFill>
          <a:ln>
            <a:solidFill>
              <a:srgbClr val="C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6000" y="2790000"/>
            <a:ext cx="30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81F2A"/>
                </a:solidFill>
                <a:latin typeface="Microsoft YaHei"/>
              </a:rPr>
              <a:t>一键部署与演示容错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6000" y="3052800"/>
            <a:ext cx="4536000" cy="34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86374"/>
                </a:solidFill>
                <a:latin typeface="Microsoft YaHei"/>
              </a:rPr>
              <a:t>支持单张 4090 + vLLM + Qwen-VL，保留 Demo Cache 与 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6000" y="5976000"/>
            <a:ext cx="1044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81F2A"/>
                </a:solidFill>
                <a:latin typeface="Microsoft YaHei"/>
              </a:rPr>
              <a:t>创新点不是“用了 RAG”，而是把 </a:t>
            </a:r>
            <a:r>
              <a:rPr sz="2000" b="1">
                <a:solidFill>
                  <a:srgbClr val="CF2A2A"/>
                </a:solidFill>
                <a:latin typeface="Microsoft YaHei"/>
              </a:rPr>
              <a:t>检索可信性、模型路由和部署可靠性</a:t>
            </a:r>
            <a:r>
              <a:rPr sz="2000" b="0">
                <a:solidFill>
                  <a:srgbClr val="181F2A"/>
                </a:solidFill>
                <a:latin typeface="Microsoft YaHei"/>
              </a:rPr>
              <a:t> 放到同一个系统闭环中。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9200"/>
            <a:ext cx="57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2A2A"/>
                </a:solidFill>
                <a:latin typeface="Microsoft YaHe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251999"/>
            <a:ext cx="1980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86374"/>
                </a:solidFill>
                <a:latin typeface="Microsoft YaHei"/>
              </a:rPr>
              <a:t>系统设计与实现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86000"/>
            <a:ext cx="88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Microsoft YaHei"/>
              </a:rPr>
              <a:t>总体架构：从多源资料到可追溯诊断答案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79200"/>
            <a:ext cx="756000" cy="288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0000" y="1062000"/>
            <a:ext cx="8568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86374"/>
                </a:solidFill>
                <a:latin typeface="Microsoft YaHei"/>
              </a:rPr>
              <a:t>第 2 部分开始进入重点：设计后面紧跟实现。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440000"/>
            <a:ext cx="1116000" cy="288000"/>
          </a:xfrm>
          <a:prstGeom prst="roundRect">
            <a:avLst/>
          </a:prstGeom>
          <a:solidFill>
            <a:srgbClr val="007E8B"/>
          </a:solidFill>
          <a:ln>
            <a:solidFill>
              <a:srgbClr val="00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输入层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0000" y="144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文本问题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31999" y="144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故障码 DTC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999" y="144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报警图片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96000" y="144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维修 PDF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60000" y="1764000"/>
            <a:ext cx="0" cy="270000"/>
          </a:xfrm>
          <a:prstGeom prst="line">
            <a:avLst/>
          </a:prstGeom>
          <a:ln w="22860">
            <a:solidFill>
              <a:srgbClr val="586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0000" y="2250000"/>
            <a:ext cx="1116000" cy="288000"/>
          </a:xfrm>
          <a:prstGeom prst="roundRect">
            <a:avLst/>
          </a:prstGeom>
          <a:solidFill>
            <a:srgbClr val="366EB6"/>
          </a:solidFill>
          <a:ln>
            <a:solidFill>
              <a:srgbClr val="36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知识层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00000" y="225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PDF 解析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31999" y="225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文本分块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999" y="225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元数据保留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96000" y="225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pgvector 索引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60000" y="2574000"/>
            <a:ext cx="0" cy="270000"/>
          </a:xfrm>
          <a:prstGeom prst="line">
            <a:avLst/>
          </a:prstGeom>
          <a:ln w="22860">
            <a:solidFill>
              <a:srgbClr val="586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60000" y="3060000"/>
            <a:ext cx="1116000" cy="288000"/>
          </a:xfrm>
          <a:prstGeom prst="roundRect">
            <a:avLst/>
          </a:prstGeom>
          <a:solidFill>
            <a:srgbClr val="E89637"/>
          </a:solidFill>
          <a:ln>
            <a:solidFill>
              <a:srgbClr val="E8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推理层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800000" y="306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混合检索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31999" y="306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BGE 重排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999" y="306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Qwen-VL/vLLM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96000" y="306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引用约束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760000" y="3384000"/>
            <a:ext cx="0" cy="270000"/>
          </a:xfrm>
          <a:prstGeom prst="line">
            <a:avLst/>
          </a:prstGeom>
          <a:ln w="22860">
            <a:solidFill>
              <a:srgbClr val="586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360000" y="3870000"/>
            <a:ext cx="1116000" cy="288000"/>
          </a:xfrm>
          <a:prstGeom prst="roundRect">
            <a:avLst/>
          </a:prstGeom>
          <a:solidFill>
            <a:srgbClr val="CF2A2A"/>
          </a:solidFill>
          <a:ln>
            <a:solidFill>
              <a:srgbClr val="C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应用层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800000" y="387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聊天问答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31999" y="387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知识库管理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999" y="387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模型配置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96000" y="3870000"/>
            <a:ext cx="1584000" cy="2880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部署迁移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0000" y="4824000"/>
            <a:ext cx="43200" cy="2880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0800" y="4824000"/>
            <a:ext cx="101592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F2A2A"/>
                </a:solidFill>
                <a:latin typeface="Microsoft YaHei"/>
              </a:rPr>
              <a:t>实现闭环：</a:t>
            </a:r>
            <a:r>
              <a:rPr sz="1800" b="0">
                <a:solidFill>
                  <a:srgbClr val="181F2A"/>
                </a:solidFill>
                <a:latin typeface="Microsoft YaHei"/>
              </a:rPr>
              <a:t>Next.js 前端 + FastAPI 后端 + PostgreSQL/pgvector + Redis + MinIO + Worker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9200"/>
            <a:ext cx="57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2A2A"/>
                </a:solidFill>
                <a:latin typeface="Microsoft YaHe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251999"/>
            <a:ext cx="1980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86374"/>
                </a:solidFill>
                <a:latin typeface="Microsoft YaHei"/>
              </a:rPr>
              <a:t>系统设计与实现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86000"/>
            <a:ext cx="88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Microsoft YaHei"/>
              </a:rPr>
              <a:t>RAG 诊断链路：让答案绑定到维修证据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79200"/>
            <a:ext cx="756000" cy="288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6000" y="1440000"/>
            <a:ext cx="360000" cy="360000"/>
          </a:xfrm>
          <a:prstGeom prst="roundRect">
            <a:avLst/>
          </a:prstGeom>
          <a:solidFill>
            <a:srgbClr val="CF2A2A"/>
          </a:solidFill>
          <a:ln>
            <a:solidFill>
              <a:srgbClr val="C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00" y="1890000"/>
            <a:ext cx="10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81F2A"/>
                </a:solidFill>
                <a:latin typeface="Microsoft YaHei"/>
              </a:rPr>
              <a:t>问题解析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" y="2142000"/>
            <a:ext cx="13680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86374"/>
                </a:solidFill>
                <a:latin typeface="Microsoft YaHei"/>
              </a:rPr>
              <a:t>提取 DTC、系统词、症状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0000" y="1620000"/>
            <a:ext cx="1421999" cy="0"/>
          </a:xfrm>
          <a:prstGeom prst="line">
            <a:avLst/>
          </a:prstGeom>
          <a:ln w="21590">
            <a:solidFill>
              <a:srgbClr val="586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46000" y="1440000"/>
            <a:ext cx="360000" cy="360000"/>
          </a:xfrm>
          <a:prstGeom prst="roundRect">
            <a:avLst/>
          </a:prstGeom>
          <a:solidFill>
            <a:srgbClr val="CF2A2A"/>
          </a:solidFill>
          <a:ln>
            <a:solidFill>
              <a:srgbClr val="C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4000" y="1890000"/>
            <a:ext cx="10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81F2A"/>
                </a:solidFill>
                <a:latin typeface="Microsoft YaHei"/>
              </a:rPr>
              <a:t>混合召回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58000" y="2142000"/>
            <a:ext cx="13680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86374"/>
                </a:solidFill>
                <a:latin typeface="Microsoft YaHei"/>
              </a:rPr>
              <a:t>向量 + 关键词双路召回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060000" y="1620000"/>
            <a:ext cx="1422000" cy="0"/>
          </a:xfrm>
          <a:prstGeom prst="line">
            <a:avLst/>
          </a:prstGeom>
          <a:ln w="21590">
            <a:solidFill>
              <a:srgbClr val="586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896000" y="1440000"/>
            <a:ext cx="360000" cy="360000"/>
          </a:xfrm>
          <a:prstGeom prst="roundRect">
            <a:avLst/>
          </a:prstGeom>
          <a:solidFill>
            <a:srgbClr val="CF2A2A"/>
          </a:solidFill>
          <a:ln>
            <a:solidFill>
              <a:srgbClr val="C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4000" y="1890000"/>
            <a:ext cx="10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81F2A"/>
                </a:solidFill>
                <a:latin typeface="Microsoft YaHei"/>
              </a:rPr>
              <a:t>重排序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000" y="2142000"/>
            <a:ext cx="13680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86374"/>
                </a:solidFill>
                <a:latin typeface="Microsoft YaHei"/>
              </a:rPr>
              <a:t>BGE reranker 选出强证据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10000" y="1620000"/>
            <a:ext cx="1422000" cy="0"/>
          </a:xfrm>
          <a:prstGeom prst="line">
            <a:avLst/>
          </a:prstGeom>
          <a:ln w="21590">
            <a:solidFill>
              <a:srgbClr val="586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46000" y="1440000"/>
            <a:ext cx="360000" cy="360000"/>
          </a:xfrm>
          <a:prstGeom prst="roundRect">
            <a:avLst/>
          </a:prstGeom>
          <a:solidFill>
            <a:srgbClr val="CF2A2A"/>
          </a:solidFill>
          <a:ln>
            <a:solidFill>
              <a:srgbClr val="C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84000" y="1890000"/>
            <a:ext cx="10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81F2A"/>
                </a:solidFill>
                <a:latin typeface="Microsoft YaHei"/>
              </a:rPr>
              <a:t>上下文构造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142000"/>
            <a:ext cx="13680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86374"/>
                </a:solidFill>
                <a:latin typeface="Microsoft YaHei"/>
              </a:rPr>
              <a:t>保留标题、页码、片段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60000" y="1620000"/>
            <a:ext cx="1422000" cy="0"/>
          </a:xfrm>
          <a:prstGeom prst="line">
            <a:avLst/>
          </a:prstGeom>
          <a:ln w="21590">
            <a:solidFill>
              <a:srgbClr val="586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96000" y="1440000"/>
            <a:ext cx="360000" cy="360000"/>
          </a:xfrm>
          <a:prstGeom prst="roundRect">
            <a:avLst/>
          </a:prstGeom>
          <a:solidFill>
            <a:srgbClr val="CF2A2A"/>
          </a:solidFill>
          <a:ln>
            <a:solidFill>
              <a:srgbClr val="C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4000" y="1890000"/>
            <a:ext cx="1080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181F2A"/>
                </a:solidFill>
                <a:latin typeface="Microsoft YaHei"/>
              </a:rPr>
              <a:t>结构化回答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08000" y="2142000"/>
            <a:ext cx="13680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586374"/>
                </a:solidFill>
                <a:latin typeface="Microsoft YaHei"/>
              </a:rPr>
              <a:t>原因 / 步骤 / 安全 / 引用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0000" y="3204000"/>
            <a:ext cx="86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CF2A2A"/>
                </a:solidFill>
                <a:latin typeface="Microsoft YaHei"/>
              </a:rPr>
              <a:t>关键约束：</a:t>
            </a:r>
            <a:r>
              <a:rPr sz="2300" b="0">
                <a:solidFill>
                  <a:srgbClr val="181F2A"/>
                </a:solidFill>
                <a:latin typeface="Microsoft YaHei"/>
              </a:rPr>
              <a:t>模型不能凭空引用；资料不足时必须提示补充检测数据。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0000" y="4031999"/>
            <a:ext cx="1296000" cy="270000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可能原因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48000" y="4031999"/>
            <a:ext cx="1296000" cy="270000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检查步骤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76000" y="4031999"/>
            <a:ext cx="1296000" cy="270000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安全提醒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03999" y="4031999"/>
            <a:ext cx="1296000" cy="270000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维修建议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2000" y="4031999"/>
            <a:ext cx="1296000" cy="270000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引用来源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60000" y="4031999"/>
            <a:ext cx="1296000" cy="270000"/>
          </a:xfrm>
          <a:prstGeom prst="roundRect">
            <a:avLst/>
          </a:prstGeom>
          <a:solidFill>
            <a:srgbClr val="EFF3F8"/>
          </a:solidFill>
          <a:ln>
            <a:solidFill>
              <a:srgbClr val="EFF3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置信提示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9200"/>
            <a:ext cx="57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2A2A"/>
                </a:solidFill>
                <a:latin typeface="Microsoft YaHe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251999"/>
            <a:ext cx="1980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86374"/>
                </a:solidFill>
                <a:latin typeface="Microsoft YaHei"/>
              </a:rPr>
              <a:t>系统设计与实现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86000"/>
            <a:ext cx="88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Microsoft YaHei"/>
              </a:rPr>
              <a:t>多模型路由：不同任务调用最合适的模型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79200"/>
            <a:ext cx="756000" cy="288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80000" y="1872000"/>
            <a:ext cx="2160000" cy="468000"/>
          </a:xfrm>
          <a:prstGeom prst="roundRect">
            <a:avLst/>
          </a:prstGeom>
          <a:solidFill>
            <a:srgbClr val="181F2A"/>
          </a:solidFill>
          <a:ln>
            <a:solidFill>
              <a:srgbClr val="18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Microsoft YaHei"/>
              </a:rPr>
              <a:t>Model Router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80000" y="1260000"/>
            <a:ext cx="2015999" cy="270000"/>
          </a:xfrm>
          <a:prstGeom prst="roundRect">
            <a:avLst/>
          </a:prstGeom>
          <a:solidFill>
            <a:srgbClr val="007E8B"/>
          </a:solidFill>
          <a:ln>
            <a:solidFill>
              <a:srgbClr val="00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chat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1602000"/>
            <a:ext cx="208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81F2A"/>
                </a:solidFill>
                <a:latin typeface="Microsoft YaHei"/>
              </a:rPr>
              <a:t>vLLM / Qwen-VL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088000" y="1404000"/>
            <a:ext cx="3672000" cy="702000"/>
          </a:xfrm>
          <a:prstGeom prst="line">
            <a:avLst/>
          </a:prstGeom>
          <a:ln w="22860">
            <a:solidFill>
              <a:srgbClr val="007E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1080000" y="3024000"/>
            <a:ext cx="2015999" cy="270000"/>
          </a:xfrm>
          <a:prstGeom prst="roundRect">
            <a:avLst/>
          </a:prstGeom>
          <a:solidFill>
            <a:srgbClr val="366EB6"/>
          </a:solidFill>
          <a:ln>
            <a:solidFill>
              <a:srgbClr val="36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vision_ocr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0000" y="3366000"/>
            <a:ext cx="208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81F2A"/>
                </a:solidFill>
                <a:latin typeface="Microsoft YaHei"/>
              </a:rPr>
              <a:t>Qwen 多模态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088000" y="2106000"/>
            <a:ext cx="3672000" cy="1062000"/>
          </a:xfrm>
          <a:prstGeom prst="line">
            <a:avLst/>
          </a:prstGeom>
          <a:ln w="22860">
            <a:solidFill>
              <a:srgbClr val="366E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460000" y="1260000"/>
            <a:ext cx="2015999" cy="27000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0000" y="1602000"/>
            <a:ext cx="208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81F2A"/>
                </a:solidFill>
                <a:latin typeface="Microsoft YaHei"/>
              </a:rPr>
              <a:t>BAAI/bge-m3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760000" y="1404000"/>
            <a:ext cx="3708000" cy="702000"/>
          </a:xfrm>
          <a:prstGeom prst="line">
            <a:avLst/>
          </a:prstGeom>
          <a:ln w="2286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8460000" y="3024000"/>
            <a:ext cx="2015999" cy="270000"/>
          </a:xfrm>
          <a:prstGeom prst="roundRect">
            <a:avLst/>
          </a:prstGeom>
          <a:solidFill>
            <a:srgbClr val="E89637"/>
          </a:solidFill>
          <a:ln>
            <a:solidFill>
              <a:srgbClr val="E8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rerank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60000" y="3366000"/>
            <a:ext cx="208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81F2A"/>
                </a:solidFill>
                <a:latin typeface="Microsoft YaHei"/>
              </a:rPr>
              <a:t>BGE reranker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760000" y="2106000"/>
            <a:ext cx="3708000" cy="1062000"/>
          </a:xfrm>
          <a:prstGeom prst="line">
            <a:avLst/>
          </a:prstGeom>
          <a:ln w="22860">
            <a:solidFill>
              <a:srgbClr val="E896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56000" y="4536000"/>
            <a:ext cx="2015999" cy="270000"/>
          </a:xfrm>
          <a:prstGeom prst="roundRect">
            <a:avLst/>
          </a:prstGeom>
          <a:solidFill>
            <a:srgbClr val="CF2A2A"/>
          </a:solidFill>
          <a:ln>
            <a:solidFill>
              <a:srgbClr val="C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fallback_chat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56000" y="4878000"/>
            <a:ext cx="208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181F2A"/>
                </a:solidFill>
                <a:latin typeface="Microsoft YaHei"/>
              </a:rPr>
              <a:t>远端 API / Demo Cache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5363999" y="2106000"/>
            <a:ext cx="396001" cy="2574000"/>
          </a:xfrm>
          <a:prstGeom prst="line">
            <a:avLst/>
          </a:prstGeom>
          <a:ln w="22860">
            <a:solidFill>
              <a:srgbClr val="CF2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68000" y="5652000"/>
            <a:ext cx="43200" cy="2880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8800" y="5652000"/>
            <a:ext cx="101592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F2A2A"/>
                </a:solidFill>
                <a:latin typeface="Microsoft YaHei"/>
              </a:rPr>
              <a:t>实现价值：</a:t>
            </a:r>
            <a:r>
              <a:rPr sz="1800" b="0">
                <a:solidFill>
                  <a:srgbClr val="181F2A"/>
                </a:solidFill>
                <a:latin typeface="Microsoft YaHei"/>
              </a:rPr>
              <a:t>API Key 可为空，兼容 vLLM / Ollama / llama.cpp / LM Studio；GPU 不可用时演示不中断。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9200"/>
            <a:ext cx="57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2A2A"/>
                </a:solidFill>
                <a:latin typeface="Microsoft YaHe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251999"/>
            <a:ext cx="1980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86374"/>
                </a:solidFill>
                <a:latin typeface="Microsoft YaHei"/>
              </a:rPr>
              <a:t>系统设计与实现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86000"/>
            <a:ext cx="88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Microsoft YaHei"/>
              </a:rPr>
              <a:t>实现内容：前端、后端、存储、部署均已落地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79200"/>
            <a:ext cx="756000" cy="288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2000" y="1278000"/>
            <a:ext cx="1512000" cy="280800"/>
          </a:xfrm>
          <a:prstGeom prst="roundRect">
            <a:avLst/>
          </a:prstGeom>
          <a:solidFill>
            <a:srgbClr val="007E8B"/>
          </a:solidFill>
          <a:ln>
            <a:solidFill>
              <a:srgbClr val="00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前端实现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2000" y="1295999"/>
            <a:ext cx="8208000" cy="23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81F2A"/>
                </a:solidFill>
                <a:latin typeface="Microsoft YaHei"/>
              </a:rPr>
              <a:t>Next.js：聊天工作台、知识库、PDF 管理、模型设置</a:t>
            </a:r>
          </a:p>
        </p:txBody>
      </p:sp>
      <p:sp>
        <p:nvSpPr>
          <p:cNvPr id="9" name="Rectangle 8"/>
          <p:cNvSpPr/>
          <p:nvPr/>
        </p:nvSpPr>
        <p:spPr>
          <a:xfrm>
            <a:off x="2232000" y="1728000"/>
            <a:ext cx="8100000" cy="1080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2000" y="2015999"/>
            <a:ext cx="1512000" cy="280800"/>
          </a:xfrm>
          <a:prstGeom prst="roundRect">
            <a:avLst/>
          </a:prstGeom>
          <a:solidFill>
            <a:srgbClr val="366EB6"/>
          </a:solidFill>
          <a:ln>
            <a:solidFill>
              <a:srgbClr val="36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后端实现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2000" y="2033999"/>
            <a:ext cx="8208000" cy="23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81F2A"/>
                </a:solidFill>
                <a:latin typeface="Microsoft YaHei"/>
              </a:rPr>
              <a:t>FastAPI：鉴权、会话、检索、SSE 流式回答、模型测试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32000" y="2466000"/>
            <a:ext cx="8100000" cy="1080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2000" y="2754000"/>
            <a:ext cx="1512000" cy="280800"/>
          </a:xfrm>
          <a:prstGeom prst="roundRect">
            <a:avLst/>
          </a:prstGeom>
          <a:solidFill>
            <a:srgbClr val="2A9D8F"/>
          </a:solidFill>
          <a:ln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数据实现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2000" y="2771999"/>
            <a:ext cx="8208000" cy="23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81F2A"/>
                </a:solidFill>
                <a:latin typeface="Microsoft YaHei"/>
              </a:rPr>
              <a:t>PostgreSQL/pgvector：文档、分块、向量、引用、聊天记录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32000" y="3203999"/>
            <a:ext cx="8100000" cy="1080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2000" y="3491999"/>
            <a:ext cx="1512000" cy="280800"/>
          </a:xfrm>
          <a:prstGeom prst="roundRect">
            <a:avLst/>
          </a:prstGeom>
          <a:solidFill>
            <a:srgbClr val="E89637"/>
          </a:solidFill>
          <a:ln>
            <a:solidFill>
              <a:srgbClr val="E8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文件与任务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32000" y="3510000"/>
            <a:ext cx="8208000" cy="23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81F2A"/>
                </a:solidFill>
                <a:latin typeface="Microsoft YaHei"/>
              </a:rPr>
              <a:t>MinIO + Worker：文件存储、PDF 入库、异步处理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32000" y="3941999"/>
            <a:ext cx="8100000" cy="10800"/>
          </a:xfrm>
          <a:prstGeom prst="rect">
            <a:avLst/>
          </a:prstGeom>
          <a:solidFill>
            <a:srgbClr val="DC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2000" y="4230000"/>
            <a:ext cx="1512000" cy="280800"/>
          </a:xfrm>
          <a:prstGeom prst="roundRect">
            <a:avLst/>
          </a:prstGeom>
          <a:solidFill>
            <a:srgbClr val="CF2A2A"/>
          </a:solidFill>
          <a:ln>
            <a:solidFill>
              <a:srgbClr val="C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部署实现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2000" y="4248000"/>
            <a:ext cx="8208000" cy="23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181F2A"/>
                </a:solidFill>
                <a:latin typeface="Microsoft YaHei"/>
              </a:rPr>
              <a:t>Docker Compose GPU：vLLM、Qwen-VL、一键迁移与健康检查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000" y="5832000"/>
            <a:ext cx="90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CF2A2A"/>
                </a:solidFill>
                <a:latin typeface="Microsoft YaHei"/>
              </a:rPr>
              <a:t>答辩重点：</a:t>
            </a:r>
            <a:r>
              <a:rPr sz="2000" b="0">
                <a:solidFill>
                  <a:srgbClr val="181F2A"/>
                </a:solidFill>
                <a:latin typeface="Microsoft YaHei"/>
              </a:rPr>
              <a:t>这里是“系统设计与实现”，不是只停留在架构图。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9200"/>
            <a:ext cx="57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2A2A"/>
                </a:solidFill>
                <a:latin typeface="Microsoft YaHe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251999"/>
            <a:ext cx="1980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86374"/>
                </a:solidFill>
                <a:latin typeface="Microsoft YaHei"/>
              </a:rPr>
              <a:t>系统设计与实现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86000"/>
            <a:ext cx="88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Microsoft YaHei"/>
              </a:rPr>
              <a:t>应用流程：管理员建知识库，技师完成诊断问答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79200"/>
            <a:ext cx="756000" cy="288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96000" y="1440000"/>
            <a:ext cx="3096000" cy="2592000"/>
          </a:xfrm>
          <a:prstGeom prst="roundRect">
            <a:avLst/>
          </a:prstGeom>
          <a:solidFill>
            <a:srgbClr val="F8FA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000" y="1638000"/>
            <a:ext cx="1188000" cy="223200"/>
          </a:xfrm>
          <a:prstGeom prst="roundRect">
            <a:avLst/>
          </a:prstGeom>
          <a:solidFill>
            <a:srgbClr val="007E8B"/>
          </a:solidFill>
          <a:ln>
            <a:solidFill>
              <a:srgbClr val="00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知识库管理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4000" y="2070000"/>
            <a:ext cx="2448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上传维修 PDF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4000" y="2592000"/>
            <a:ext cx="2448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解析分块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4000" y="3114000"/>
            <a:ext cx="2448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向量索引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3726000"/>
            <a:ext cx="11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86374"/>
                </a:solidFill>
                <a:latin typeface="Microsoft YaHei"/>
              </a:rPr>
              <a:t>已实现页面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92000" y="1440000"/>
            <a:ext cx="3096000" cy="2592000"/>
          </a:xfrm>
          <a:prstGeom prst="roundRect">
            <a:avLst/>
          </a:prstGeom>
          <a:solidFill>
            <a:srgbClr val="F8FA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90000" y="1638000"/>
            <a:ext cx="1188000" cy="223200"/>
          </a:xfrm>
          <a:prstGeom prst="roundRect">
            <a:avLst/>
          </a:prstGeom>
          <a:solidFill>
            <a:srgbClr val="E89637"/>
          </a:solidFill>
          <a:ln>
            <a:solidFill>
              <a:srgbClr val="E8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模型配置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0000" y="2070000"/>
            <a:ext cx="2448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端点管理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80000" y="2592000"/>
            <a:ext cx="2448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任务路由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0000" y="3114000"/>
            <a:ext cx="2448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连通测试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3999" y="3726000"/>
            <a:ext cx="11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86374"/>
                </a:solidFill>
                <a:latin typeface="Microsoft YaHei"/>
              </a:rPr>
              <a:t>已实现页面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8000" y="1440000"/>
            <a:ext cx="3096000" cy="2592000"/>
          </a:xfrm>
          <a:prstGeom prst="roundRect">
            <a:avLst/>
          </a:prstGeom>
          <a:solidFill>
            <a:srgbClr val="F8FAFC"/>
          </a:solidFill>
          <a:ln>
            <a:solidFill>
              <a:srgbClr val="DCE2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86000" y="1638000"/>
            <a:ext cx="1188000" cy="223200"/>
          </a:xfrm>
          <a:prstGeom prst="roundRect">
            <a:avLst/>
          </a:prstGeom>
          <a:solidFill>
            <a:srgbClr val="CF2A2A"/>
          </a:solidFill>
          <a:ln>
            <a:solidFill>
              <a:srgbClr val="C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诊断聊天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76000" y="2070000"/>
            <a:ext cx="2448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文本/图片问题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76000" y="2592000"/>
            <a:ext cx="2448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流式回答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76000" y="3114000"/>
            <a:ext cx="2448000" cy="28800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81F2A"/>
                </a:solidFill>
                <a:latin typeface="Microsoft YaHei"/>
              </a:rPr>
              <a:t>引用来源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0000" y="3726000"/>
            <a:ext cx="1152000" cy="14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586374"/>
                </a:solidFill>
                <a:latin typeface="Microsoft YaHei"/>
              </a:rPr>
              <a:t>已实现页面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564000" y="2700000"/>
            <a:ext cx="756000" cy="0"/>
          </a:xfrm>
          <a:prstGeom prst="line">
            <a:avLst/>
          </a:prstGeom>
          <a:ln w="22860">
            <a:solidFill>
              <a:srgbClr val="586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523999" y="2700000"/>
            <a:ext cx="756001" cy="0"/>
          </a:xfrm>
          <a:prstGeom prst="line">
            <a:avLst/>
          </a:prstGeom>
          <a:ln w="22860">
            <a:solidFill>
              <a:srgbClr val="5863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080000" y="4752000"/>
            <a:ext cx="43200" cy="3240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0800" y="4752000"/>
            <a:ext cx="88992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CF2A2A"/>
                </a:solidFill>
                <a:latin typeface="Microsoft YaHei"/>
              </a:rPr>
              <a:t>闭环：</a:t>
            </a:r>
            <a:r>
              <a:rPr sz="2100" b="0">
                <a:solidFill>
                  <a:srgbClr val="181F2A"/>
                </a:solidFill>
                <a:latin typeface="Microsoft YaHei"/>
              </a:rPr>
              <a:t>资料入库 -&gt; 模型路由 -&gt; 诊断问答 -&gt; 引用复核 -&gt; 演示部署。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9200"/>
            <a:ext cx="57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2A2A"/>
                </a:solidFill>
                <a:latin typeface="Microsoft YaHe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251999"/>
            <a:ext cx="1980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86374"/>
                </a:solidFill>
                <a:latin typeface="Microsoft YaHei"/>
              </a:rPr>
              <a:t>实验及讨论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86000"/>
            <a:ext cx="88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Microsoft YaHei"/>
              </a:rPr>
              <a:t>实验围绕四个问题验证：准不准、稳不稳、快不快、能不能部署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79200"/>
            <a:ext cx="756000" cy="288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2000" y="1332000"/>
            <a:ext cx="1512000" cy="288000"/>
          </a:xfrm>
          <a:prstGeom prst="roundRect">
            <a:avLst/>
          </a:prstGeom>
          <a:solidFill>
            <a:srgbClr val="007E8B"/>
          </a:solidFill>
          <a:ln>
            <a:solidFill>
              <a:srgbClr val="00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检索消融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" y="1710000"/>
            <a:ext cx="4428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F2A"/>
                </a:solidFill>
                <a:latin typeface="Microsoft YaHei"/>
              </a:rPr>
              <a:t>No RAG / Dense / Dense+Keyword / Hybrid+Rerank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" y="2034000"/>
            <a:ext cx="44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86374"/>
                </a:solidFill>
                <a:latin typeface="Microsoft YaHei"/>
              </a:rPr>
              <a:t>Hit@K、MRR、nDCG@5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76000" y="1332000"/>
            <a:ext cx="1512000" cy="288000"/>
          </a:xfrm>
          <a:prstGeom prst="roundRect">
            <a:avLst/>
          </a:prstGeom>
          <a:solidFill>
            <a:srgbClr val="366EB6"/>
          </a:solidFill>
          <a:ln>
            <a:solidFill>
              <a:srgbClr val="36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证据质量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6000" y="1710000"/>
            <a:ext cx="4428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F2A"/>
                </a:solidFill>
                <a:latin typeface="Microsoft YaHei"/>
              </a:rPr>
              <a:t>top vector score、top rerank score、keyword coverage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6000" y="2034000"/>
            <a:ext cx="44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86374"/>
                </a:solidFill>
                <a:latin typeface="Microsoft YaHei"/>
              </a:rPr>
              <a:t>分布与相关性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000" y="2808000"/>
            <a:ext cx="1512000" cy="288000"/>
          </a:xfrm>
          <a:prstGeom prst="roundRect">
            <a:avLst/>
          </a:prstGeom>
          <a:solidFill>
            <a:srgbClr val="E89637"/>
          </a:solidFill>
          <a:ln>
            <a:solidFill>
              <a:srgbClr val="E8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性能分析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2000" y="3186000"/>
            <a:ext cx="4428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F2A"/>
                </a:solidFill>
                <a:latin typeface="Microsoft YaHei"/>
              </a:rPr>
              <a:t>延迟、首 token、缓存、fallback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2000" y="3510000"/>
            <a:ext cx="44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86374"/>
                </a:solidFill>
                <a:latin typeface="Microsoft YaHei"/>
              </a:rPr>
              <a:t>交互可用性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76000" y="2808000"/>
            <a:ext cx="1512000" cy="288000"/>
          </a:xfrm>
          <a:prstGeom prst="roundRect">
            <a:avLst/>
          </a:prstGeom>
          <a:solidFill>
            <a:srgbClr val="CF2A2A"/>
          </a:solidFill>
          <a:ln>
            <a:solidFill>
              <a:srgbClr val="C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部署验证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6000" y="3186000"/>
            <a:ext cx="4428000" cy="2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81F2A"/>
                </a:solidFill>
                <a:latin typeface="Microsoft YaHei"/>
              </a:rPr>
              <a:t>Docker Compose GPU、vLLM、Qwen-VL、本地 BGE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76000" y="3510000"/>
            <a:ext cx="44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86374"/>
                </a:solidFill>
                <a:latin typeface="Microsoft YaHei"/>
              </a:rPr>
              <a:t>演示可靠性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5688000"/>
            <a:ext cx="1044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CF2A2A"/>
                </a:solidFill>
                <a:latin typeface="Microsoft YaHei"/>
              </a:rPr>
              <a:t>说明：</a:t>
            </a:r>
            <a:r>
              <a:rPr sz="1900" b="0">
                <a:solidFill>
                  <a:srgbClr val="181F2A"/>
                </a:solidFill>
                <a:latin typeface="Microsoft YaHei"/>
              </a:rPr>
              <a:t>实验不是把系统功能截图堆上去，而是验证核心方法和工程约束是否成立。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9200"/>
            <a:ext cx="57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2A2A"/>
                </a:solidFill>
                <a:latin typeface="Microsoft YaHe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251999"/>
            <a:ext cx="1980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86374"/>
                </a:solidFill>
                <a:latin typeface="Microsoft YaHei"/>
              </a:rPr>
              <a:t>实验及讨论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86000"/>
            <a:ext cx="88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Microsoft YaHei"/>
              </a:rPr>
              <a:t>检索消融：混合检索与重排序提升证据命中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79200"/>
            <a:ext cx="756000" cy="288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0000" y="1296000"/>
          <a:ext cx="7200000" cy="3528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992000" y="1332000"/>
            <a:ext cx="2160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81F2A"/>
                </a:solidFill>
                <a:latin typeface="Microsoft YaHei"/>
              </a:rPr>
              <a:t>关键结果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92000" y="1674000"/>
            <a:ext cx="1655999" cy="234000"/>
          </a:xfrm>
          <a:prstGeom prst="roundRect">
            <a:avLst/>
          </a:prstGeom>
          <a:solidFill>
            <a:srgbClr val="CF2A2A"/>
          </a:solidFill>
          <a:ln>
            <a:solidFill>
              <a:srgbClr val="C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Hybrid+Rerank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92000" y="1692000"/>
            <a:ext cx="1620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F2A"/>
                </a:solidFill>
                <a:latin typeface="Microsoft YaHei"/>
              </a:rPr>
              <a:t>Hit@1 = 1.00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2000" y="2304000"/>
            <a:ext cx="1655999" cy="234000"/>
          </a:xfrm>
          <a:prstGeom prst="roundRect">
            <a:avLst/>
          </a:prstGeom>
          <a:solidFill>
            <a:srgbClr val="007E8B"/>
          </a:solidFill>
          <a:ln>
            <a:solidFill>
              <a:srgbClr val="00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Dense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92000" y="2322000"/>
            <a:ext cx="1620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F2A"/>
                </a:solidFill>
                <a:latin typeface="Microsoft YaHei"/>
              </a:rPr>
              <a:t>Hit@1 = 0.9688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92000" y="2934000"/>
            <a:ext cx="1655999" cy="234000"/>
          </a:xfrm>
          <a:prstGeom prst="roundRect">
            <a:avLst/>
          </a:prstGeom>
          <a:solidFill>
            <a:srgbClr val="586374"/>
          </a:solidFill>
          <a:ln>
            <a:solidFill>
              <a:srgbClr val="5863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YaHei"/>
              </a:rPr>
              <a:t>No RAG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92000" y="2951999"/>
            <a:ext cx="1620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81F2A"/>
                </a:solidFill>
                <a:latin typeface="Microsoft YaHei"/>
              </a:rPr>
              <a:t>MRR = 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92000" y="4031999"/>
            <a:ext cx="43200" cy="4680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800" y="4031999"/>
            <a:ext cx="3391200" cy="46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CF2A2A"/>
                </a:solidFill>
                <a:latin typeface="Microsoft YaHei"/>
              </a:rPr>
              <a:t>结论：</a:t>
            </a:r>
            <a:r>
              <a:rPr sz="1700" b="0">
                <a:solidFill>
                  <a:srgbClr val="181F2A"/>
                </a:solidFill>
                <a:latin typeface="Microsoft YaHei"/>
              </a:rPr>
              <a:t>RAG 让回答具备可引用证据；Hybrid+Rerank 在小规模维修问题集上取得最佳表现。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9200"/>
            <a:ext cx="57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2A2A"/>
                </a:solidFill>
                <a:latin typeface="Microsoft YaHe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251999"/>
            <a:ext cx="1980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86374"/>
                </a:solidFill>
                <a:latin typeface="Microsoft YaHei"/>
              </a:rPr>
              <a:t>实验及讨论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86000"/>
            <a:ext cx="88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Microsoft YaHei"/>
              </a:rPr>
              <a:t>分布分析：检索证据、延迟和知识向量空间可解释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79200"/>
            <a:ext cx="756000" cy="288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_experimen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278000"/>
            <a:ext cx="5364000" cy="3708000"/>
          </a:xfrm>
          <a:prstGeom prst="rect">
            <a:avLst/>
          </a:prstGeom>
        </p:spPr>
      </p:pic>
      <p:pic>
        <p:nvPicPr>
          <p:cNvPr id="8" name="Picture 7" descr="fig_score_pair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000" y="1278000"/>
            <a:ext cx="4824000" cy="370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5274000"/>
            <a:ext cx="10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F2A2A"/>
                </a:solidFill>
                <a:latin typeface="Microsoft YaHei"/>
              </a:rPr>
              <a:t>观察：</a:t>
            </a:r>
            <a:r>
              <a:rPr sz="1800" b="0">
                <a:solidFill>
                  <a:srgbClr val="181F2A"/>
                </a:solidFill>
                <a:latin typeface="Microsoft YaHei"/>
              </a:rPr>
              <a:t>知识分块在向量空间中形成子系统结构；证据分数与覆盖率可用于解释回答可信度。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BFC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9200"/>
            <a:ext cx="57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2A2A"/>
                </a:solidFill>
                <a:latin typeface="Microsoft YaHe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251999"/>
            <a:ext cx="1980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86374"/>
                </a:solidFill>
                <a:latin typeface="Microsoft YaHei"/>
              </a:rPr>
              <a:t>实验及讨论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86000"/>
            <a:ext cx="88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Microsoft YaHei"/>
              </a:rPr>
              <a:t>讨论：效果、成本与演示可靠性的权衡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79200"/>
            <a:ext cx="756000" cy="288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60000" y="1422000"/>
            <a:ext cx="1296000" cy="288000"/>
          </a:xfrm>
          <a:prstGeom prst="roundRect">
            <a:avLst/>
          </a:prstGeom>
          <a:solidFill>
            <a:srgbClr val="007E8B"/>
          </a:solidFill>
          <a:ln>
            <a:solidFill>
              <a:srgbClr val="00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效果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818000"/>
            <a:ext cx="2304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F2A"/>
                </a:solidFill>
                <a:latin typeface="Microsoft YaHei"/>
              </a:rPr>
              <a:t>• 检索命中率高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2196000"/>
            <a:ext cx="2304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F2A"/>
                </a:solidFill>
                <a:latin typeface="Microsoft YaHei"/>
              </a:rPr>
              <a:t>• 回答带来源引用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000" y="2574000"/>
            <a:ext cx="2304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F2A"/>
                </a:solidFill>
                <a:latin typeface="Microsoft YaHei"/>
              </a:rPr>
              <a:t>• 图片问题可接入 Qwen-VL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4000" y="1422000"/>
            <a:ext cx="1296000" cy="288000"/>
          </a:xfrm>
          <a:prstGeom prst="roundRect">
            <a:avLst/>
          </a:prstGeom>
          <a:solidFill>
            <a:srgbClr val="E89637"/>
          </a:solidFill>
          <a:ln>
            <a:solidFill>
              <a:srgbClr val="E8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延迟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4000" y="1818000"/>
            <a:ext cx="2304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F2A"/>
                </a:solidFill>
                <a:latin typeface="Microsoft YaHei"/>
              </a:rPr>
              <a:t>• SSE 先出首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4000" y="2196000"/>
            <a:ext cx="2304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F2A"/>
                </a:solidFill>
                <a:latin typeface="Microsoft YaHei"/>
              </a:rPr>
              <a:t>• 视觉描述可缓存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4000" y="2574000"/>
            <a:ext cx="2304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F2A"/>
                </a:solidFill>
                <a:latin typeface="Microsoft YaHei"/>
              </a:rPr>
              <a:t>• 重排在 CPU 上较慢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48000" y="1422000"/>
            <a:ext cx="1296000" cy="288000"/>
          </a:xfrm>
          <a:prstGeom prst="roundRect">
            <a:avLst/>
          </a:prstGeom>
          <a:solidFill>
            <a:srgbClr val="366EB6"/>
          </a:solidFill>
          <a:ln>
            <a:solidFill>
              <a:srgbClr val="366E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8000" y="1818000"/>
            <a:ext cx="2304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F2A"/>
                </a:solidFill>
                <a:latin typeface="Microsoft YaHei"/>
              </a:rPr>
              <a:t>• 单张 4090 可演示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48000" y="2196000"/>
            <a:ext cx="2304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F2A"/>
                </a:solidFill>
                <a:latin typeface="Microsoft YaHei"/>
              </a:rPr>
              <a:t>• 远端 API 可兜底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8000" y="2574000"/>
            <a:ext cx="2304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F2A"/>
                </a:solidFill>
                <a:latin typeface="Microsoft YaHei"/>
              </a:rPr>
              <a:t>• 大模型越大成本越高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92000" y="1422000"/>
            <a:ext cx="1296000" cy="288000"/>
          </a:xfrm>
          <a:prstGeom prst="roundRect">
            <a:avLst/>
          </a:prstGeom>
          <a:solidFill>
            <a:srgbClr val="CF2A2A"/>
          </a:solidFill>
          <a:ln>
            <a:solidFill>
              <a:srgbClr val="C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风险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2000" y="1818000"/>
            <a:ext cx="2304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F2A"/>
                </a:solidFill>
                <a:latin typeface="Microsoft YaHei"/>
              </a:rPr>
              <a:t>• 知识库规模仍有限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92000" y="2196000"/>
            <a:ext cx="2304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F2A"/>
                </a:solidFill>
                <a:latin typeface="Microsoft YaHei"/>
              </a:rPr>
              <a:t>• 真实维修样本需扩充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2000" y="2574000"/>
            <a:ext cx="2304000" cy="19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181F2A"/>
                </a:solidFill>
                <a:latin typeface="Microsoft YaHei"/>
              </a:rPr>
              <a:t>• 需更多端到端人工评测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000" y="4716000"/>
            <a:ext cx="43200" cy="3960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800" y="4716000"/>
            <a:ext cx="9619200" cy="39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CF2A2A"/>
                </a:solidFill>
                <a:latin typeface="Microsoft YaHei"/>
              </a:rPr>
              <a:t>答辩表述：</a:t>
            </a:r>
            <a:r>
              <a:rPr sz="2100" b="0">
                <a:solidFill>
                  <a:srgbClr val="181F2A"/>
                </a:solidFill>
                <a:latin typeface="Microsoft YaHei"/>
              </a:rPr>
              <a:t>本文不是追求最大模型，而是在真实资源约束下取得可用、可信、可演示的系统效果。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59200"/>
            <a:ext cx="576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CF2A2A"/>
                </a:solidFill>
                <a:latin typeface="Microsoft YaHe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7999" y="251999"/>
            <a:ext cx="1980000" cy="1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86374"/>
                </a:solidFill>
                <a:latin typeface="Microsoft YaHei"/>
              </a:rPr>
              <a:t>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486000"/>
            <a:ext cx="88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181F2A"/>
                </a:solidFill>
                <a:latin typeface="Microsoft YaHei"/>
              </a:rPr>
              <a:t>完成了一个面向真实部署的多模态维修诊断问答系统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979200"/>
            <a:ext cx="756000" cy="28800"/>
          </a:xfrm>
          <a:prstGeom prst="rect">
            <a:avLst/>
          </a:prstGeom>
          <a:solidFill>
            <a:srgbClr val="CF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68000" y="1440000"/>
            <a:ext cx="1440000" cy="288000"/>
          </a:xfrm>
          <a:prstGeom prst="roundRect">
            <a:avLst/>
          </a:prstGeom>
          <a:solidFill>
            <a:srgbClr val="007E8B"/>
          </a:solidFill>
          <a:ln>
            <a:solidFill>
              <a:srgbClr val="007E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系统完成度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60000" y="1458000"/>
            <a:ext cx="81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81F2A"/>
                </a:solidFill>
                <a:latin typeface="Microsoft YaHei"/>
              </a:rPr>
              <a:t>实现了前端、后端、知识库、模型路由、部署脚本的完整闭环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" y="2322000"/>
            <a:ext cx="1440000" cy="288000"/>
          </a:xfrm>
          <a:prstGeom prst="roundRect">
            <a:avLst/>
          </a:prstGeom>
          <a:solidFill>
            <a:srgbClr val="CF2A2A"/>
          </a:solidFill>
          <a:ln>
            <a:solidFill>
              <a:srgbClr val="CF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方法有效性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0000" y="2340000"/>
            <a:ext cx="81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81F2A"/>
                </a:solidFill>
                <a:latin typeface="Microsoft YaHei"/>
              </a:rPr>
              <a:t>混合检索 + 重排序提升维修证据命中，回答具备引用溯源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" y="3204000"/>
            <a:ext cx="1440000" cy="288000"/>
          </a:xfrm>
          <a:prstGeom prst="roundRect">
            <a:avLst/>
          </a:prstGeom>
          <a:solidFill>
            <a:srgbClr val="E89637"/>
          </a:solidFill>
          <a:ln>
            <a:solidFill>
              <a:srgbClr val="E896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工程价值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0" y="3222000"/>
            <a:ext cx="8100000" cy="251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81F2A"/>
                </a:solidFill>
                <a:latin typeface="Microsoft YaHei"/>
              </a:rPr>
              <a:t>支持 vLLM/Qwen-VL、本地 BGE、fallback 与 Demo Cache，便于答辩演示和迁移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4500000"/>
            <a:ext cx="10008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700" b="1">
                <a:solidFill>
                  <a:srgbClr val="CF2A2A"/>
                </a:solidFill>
                <a:latin typeface="Microsoft YaHei"/>
              </a:rPr>
              <a:t>最终结论：</a:t>
            </a:r>
            <a:r>
              <a:rPr sz="2300" b="0">
                <a:solidFill>
                  <a:srgbClr val="181F2A"/>
                </a:solidFill>
                <a:latin typeface="Microsoft YaHei"/>
              </a:rPr>
              <a:t>系统把新能源汽车维修问答从通用生成推进到 </a:t>
            </a:r>
            <a:r>
              <a:rPr sz="2300" b="1">
                <a:solidFill>
                  <a:srgbClr val="CF2A2A"/>
                </a:solidFill>
                <a:latin typeface="Microsoft YaHei"/>
              </a:rPr>
              <a:t>可追溯、可配置、可迁移</a:t>
            </a:r>
            <a:r>
              <a:rPr sz="2300" b="0">
                <a:solidFill>
                  <a:srgbClr val="181F2A"/>
                </a:solidFill>
                <a:latin typeface="Microsoft YaHei"/>
              </a:rPr>
              <a:t> 的工程应用。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999" y="5868000"/>
            <a:ext cx="10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586374"/>
                </a:solidFill>
                <a:latin typeface="Microsoft YaHei"/>
              </a:rPr>
              <a:t>谢谢各位老师，请批评指正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